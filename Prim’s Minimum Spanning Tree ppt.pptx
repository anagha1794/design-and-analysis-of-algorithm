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Prim’s algorithm, a greedy method from the Design and Analysis of It was generated using Claude.
Name : ANAGHA YENORKAR
PRN : 25070521342
 Class : A2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MST of a connected weighted graph spans all vertices, has no cycle and therefore V minus 1 edges, and has the smallest possible total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Prim’s algorithm keeps one growing tree S. The cut property guarantees that the lightest edge leaving S is safe to add, so a purely greedy strategy still produces an optimal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After V minus 1 additions the tree spans the whole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running example. The numbers on the edges are weights. We start Prim’s algorithm from vertex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each step list the edges leaving the tree, pick the cheapest, and add its new vertex. Five picks connect all six vertices with total weight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tree uses edges A–C, C–B, B–D, D–E and E–F for a total weight of 2 plus 1 plus 5 plus 2 plus 3, which is 13. Kruskal’s algorithm gives the same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running time depends on how the vertices outside the tree are stored. A simple array gives V squared, a binary heap gives E log V, and a Fibonacci heap improves the bound further in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vertex keeps the weight of its cheapest connection to the tree. EXTRACT-MIN pulls out the vertex with the smallest key, and its neighbours then update their keys. The parent array records the tree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recap: one growing tree, the cheapest crossing edge each time, and an optimal result thanks to the cut property. This presentation was generated using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07"/>
            <a:ext cx="10566400" cy="4424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small graph with a highlighted tree of orange edges connecting six circular vertic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85000" y="1524000"/>
            <a:ext cx="3810000" cy="355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36478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F299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AND ANALYSIS OF ALGORITHMS</a:t>
            </a:r>
            <a:endParaRPr lang="en-US" sz="16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903207"/>
            <a:ext cx="6278880" cy="141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Prim’s Minimum Spanning Tree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12391364" y="1568119"/>
            <a:ext cx="406400" cy="17780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6" name="Text 3"/>
          <p:cNvSpPr/>
          <p:nvPr/>
        </p:nvSpPr>
        <p:spPr>
          <a:xfrm>
            <a:off x="12569164" y="1657019"/>
            <a:ext cx="50800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using Claude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63600" y="5080000"/>
            <a:ext cx="8057896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5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: ANAGHA YENORKAR</a:t>
            </a:r>
            <a:endParaRPr lang="en-US" sz="3500" dirty="0"/>
          </a:p>
          <a:p>
            <a:pPr algn="l" indent="0" marL="0">
              <a:lnSpc>
                <a:spcPts val="4900"/>
              </a:lnSpc>
              <a:buNone/>
            </a:pPr>
            <a:r>
              <a:rPr lang="en-US" sz="35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PRN : 25070521342</a:t>
            </a:r>
            <a:endParaRPr lang="en-US" sz="3500" dirty="0"/>
          </a:p>
          <a:p>
            <a:pPr algn="l" indent="0" marL="0">
              <a:lnSpc>
                <a:spcPts val="4900"/>
              </a:lnSpc>
              <a:buNone/>
            </a:pPr>
            <a:r>
              <a:rPr lang="en-US" sz="3500" dirty="0">
                <a:solidFill>
                  <a:srgbClr val="FAF9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: A2</a:t>
            </a:r>
            <a:endParaRPr lang="en-US"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a minimum spanning tree?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82"/>
            <a:ext cx="3380317" cy="1800225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929540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1033" y="2366367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Touches every vertex, so the whole graph stays connected.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42" y="1674482"/>
            <a:ext cx="3380317" cy="1800225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0900" y="1929540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60900" y="2366367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exactly V − 1 edges and contains no cycle.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709" y="1674482"/>
            <a:ext cx="3380317" cy="1800225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0767" y="1929540"/>
            <a:ext cx="295630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50767" y="2366367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edge weight is as small as any spanning tree can achieve.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833482"/>
            <a:ext cx="10566400" cy="1125141"/>
          </a:xfrm>
          <a:prstGeom prst="roundRect">
            <a:avLst>
              <a:gd name="adj" fmla="val 9030"/>
            </a:avLst>
          </a:prstGeom>
          <a:solidFill>
            <a:srgbClr val="14213D"/>
          </a:solidFill>
          <a:ln/>
        </p:spPr>
        <p:txBody>
          <a:bodyPr wrap="square" lIns="275042" tIns="224242" rIns="0" bIns="198842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a connected, weighted, undirected graph G = (V, E). Real-world use: laying cables, pipes or roads to link every site at the lowest total cost.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greedy idea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82"/>
            <a:ext cx="5175250" cy="1800225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033" y="1929541"/>
            <a:ext cx="4805087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Greedy choice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1033" y="2366367"/>
            <a:ext cx="480508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every step, take the cheapest edge that grows the tree. Never look back and never undo a choice.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82"/>
            <a:ext cx="5175250" cy="1800225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6350">
            <a:solidFill>
              <a:srgbClr val="D9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5833" y="1929541"/>
            <a:ext cx="4805087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property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5833" y="2366367"/>
            <a:ext cx="480508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any split of the vertices, the lightest edge crossing the split belongs to some minimum spanning tree.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886795"/>
            <a:ext cx="1268809" cy="762000"/>
          </a:xfrm>
          <a:prstGeom prst="roundRect">
            <a:avLst>
              <a:gd name="adj" fmla="val 13333"/>
            </a:avLst>
          </a:prstGeom>
          <a:solidFill>
            <a:srgbClr val="1F7A8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Tree 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2515" y="3833482"/>
            <a:ext cx="269446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cheapest crossing edge</a:t>
            </a:r>
            <a:endParaRPr lang="en-US" sz="16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97747" y="4194110"/>
            <a:ext cx="1524000" cy="50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37951" y="3886795"/>
            <a:ext cx="3541250" cy="76200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Remaining vertices V − 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algorithm in four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82"/>
            <a:ext cx="2482850" cy="2587559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0233" y="1878741"/>
            <a:ext cx="2136563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453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20233" y="2483247"/>
            <a:ext cx="213656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233" y="2920074"/>
            <a:ext cx="2136563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 any vertex and place it in the tree.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08375" y="1674482"/>
            <a:ext cx="2482850" cy="2587559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633" y="1878741"/>
            <a:ext cx="2136563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453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12633" y="2483247"/>
            <a:ext cx="213656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12633" y="2920074"/>
            <a:ext cx="213656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the edges that join the tree to vertices outside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0775" y="1674482"/>
            <a:ext cx="2482850" cy="2587559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033" y="1878741"/>
            <a:ext cx="2136563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453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5033" y="2483247"/>
            <a:ext cx="213656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5033" y="2920074"/>
            <a:ext cx="2136563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the cheapest of those edges and bring its new vertex into the tree.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93175" y="1674482"/>
            <a:ext cx="2482850" cy="2587559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7434" y="1878741"/>
            <a:ext cx="2136563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453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097434" y="2483247"/>
            <a:ext cx="2136563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7434" y="2920074"/>
            <a:ext cx="2136563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 back to step 2 until all V vertices are in the tree.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46208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Ties may be broken arbitrarily. The total weight of the tree stays the same.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 graph</a:t>
            </a:r>
            <a:endParaRPr lang="en-US" sz="3600" dirty="0"/>
          </a:p>
        </p:txBody>
      </p:sp>
      <p:pic>
        <p:nvPicPr>
          <p:cNvPr id="3" name="Image 0" descr="Weighted undirected graph with vertices A to F and nine edg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27200"/>
            <a:ext cx="63500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34798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413000" y="2146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413000" y="4813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8000" y="2146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18000" y="4813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23000" y="34798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51025" y="29241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78" dirty="0"/>
          </a:p>
        </p:txBody>
      </p:sp>
      <p:sp>
        <p:nvSpPr>
          <p:cNvPr id="11" name="Text 8"/>
          <p:cNvSpPr/>
          <p:nvPr/>
        </p:nvSpPr>
        <p:spPr>
          <a:xfrm>
            <a:off x="1851025" y="42576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78" dirty="0"/>
          </a:p>
        </p:txBody>
      </p:sp>
      <p:sp>
        <p:nvSpPr>
          <p:cNvPr id="12" name="Text 9"/>
          <p:cNvSpPr/>
          <p:nvPr/>
        </p:nvSpPr>
        <p:spPr>
          <a:xfrm>
            <a:off x="25495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78" dirty="0"/>
          </a:p>
        </p:txBody>
      </p:sp>
      <p:sp>
        <p:nvSpPr>
          <p:cNvPr id="13" name="Text 10"/>
          <p:cNvSpPr/>
          <p:nvPr/>
        </p:nvSpPr>
        <p:spPr>
          <a:xfrm>
            <a:off x="3502025" y="22574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78" dirty="0"/>
          </a:p>
        </p:txBody>
      </p:sp>
      <p:sp>
        <p:nvSpPr>
          <p:cNvPr id="14" name="Text 11"/>
          <p:cNvSpPr/>
          <p:nvPr/>
        </p:nvSpPr>
        <p:spPr>
          <a:xfrm>
            <a:off x="35020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78" dirty="0"/>
          </a:p>
        </p:txBody>
      </p:sp>
      <p:sp>
        <p:nvSpPr>
          <p:cNvPr id="15" name="Text 12"/>
          <p:cNvSpPr/>
          <p:nvPr/>
        </p:nvSpPr>
        <p:spPr>
          <a:xfrm>
            <a:off x="3502025" y="49244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78" dirty="0"/>
          </a:p>
        </p:txBody>
      </p:sp>
      <p:sp>
        <p:nvSpPr>
          <p:cNvPr id="16" name="Text 13"/>
          <p:cNvSpPr/>
          <p:nvPr/>
        </p:nvSpPr>
        <p:spPr>
          <a:xfrm>
            <a:off x="44545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78" dirty="0"/>
          </a:p>
        </p:txBody>
      </p:sp>
      <p:sp>
        <p:nvSpPr>
          <p:cNvPr id="17" name="Text 14"/>
          <p:cNvSpPr/>
          <p:nvPr/>
        </p:nvSpPr>
        <p:spPr>
          <a:xfrm>
            <a:off x="5407025" y="29241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78" dirty="0"/>
          </a:p>
        </p:txBody>
      </p:sp>
      <p:sp>
        <p:nvSpPr>
          <p:cNvPr id="18" name="Text 15"/>
          <p:cNvSpPr/>
          <p:nvPr/>
        </p:nvSpPr>
        <p:spPr>
          <a:xfrm>
            <a:off x="5407025" y="42576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6B7685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78" dirty="0"/>
          </a:p>
        </p:txBody>
      </p:sp>
      <p:sp>
        <p:nvSpPr>
          <p:cNvPr id="19" name="Text 16"/>
          <p:cNvSpPr/>
          <p:nvPr/>
        </p:nvSpPr>
        <p:spPr>
          <a:xfrm>
            <a:off x="7620000" y="1905000"/>
            <a:ext cx="387197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20000" y="2392629"/>
            <a:ext cx="38719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vertices and 9 weighted edges.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20000" y="2829455"/>
            <a:ext cx="38719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vertex: A.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0" y="3266281"/>
            <a:ext cx="387197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connect every vertex with the smallest total edge weight.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trace from A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209"/>
          <a:ext cx="10553700" cy="2476500"/>
        </p:xfrm>
        <a:graphic>
          <a:graphicData uri="http://schemas.openxmlformats.org/drawingml/2006/table">
            <a:tbl>
              <a:tblPr/>
              <a:tblGrid>
                <a:gridCol w="949833"/>
                <a:gridCol w="2638425"/>
                <a:gridCol w="3799332"/>
                <a:gridCol w="1688592"/>
                <a:gridCol w="1477518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Step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Tree so far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Candidate edges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Picked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{A}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A–B 4, A–C 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A–C (2)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{A, C}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A–B 4, C–B 1, C–D 8, C–E 10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C–B (1)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{A, B, C}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B–D 5, C–D 8, C–E 10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B–D (5)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{A, B, C, D}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D–E 2, D–F 6, C–E 10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D–E (2)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{A, B, C, D, E}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D–F 6, E–F 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E–F (3)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414509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A–B (4) is never picked: after step 2 both its ends are already in the tree, so adding it would form a cycle.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Resulting minimum spanning tree</a:t>
            </a:r>
            <a:endParaRPr lang="en-US" sz="3600" dirty="0"/>
          </a:p>
        </p:txBody>
      </p:sp>
      <p:pic>
        <p:nvPicPr>
          <p:cNvPr id="3" name="Image 0" descr="The example graph with the five minimum spanning tree edges drawn thick and the other four drawn dash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27200"/>
            <a:ext cx="6350000" cy="406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34798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413000" y="2146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413000" y="4813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18000" y="2146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318000" y="48133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23000" y="3479800"/>
            <a:ext cx="609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20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51025" y="29241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B8C0CC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78" dirty="0"/>
          </a:p>
        </p:txBody>
      </p:sp>
      <p:sp>
        <p:nvSpPr>
          <p:cNvPr id="11" name="Text 8"/>
          <p:cNvSpPr/>
          <p:nvPr/>
        </p:nvSpPr>
        <p:spPr>
          <a:xfrm>
            <a:off x="1851025" y="42576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D9691E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78" dirty="0"/>
          </a:p>
        </p:txBody>
      </p:sp>
      <p:sp>
        <p:nvSpPr>
          <p:cNvPr id="12" name="Text 9"/>
          <p:cNvSpPr/>
          <p:nvPr/>
        </p:nvSpPr>
        <p:spPr>
          <a:xfrm>
            <a:off x="25495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D9691E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78" dirty="0"/>
          </a:p>
        </p:txBody>
      </p:sp>
      <p:sp>
        <p:nvSpPr>
          <p:cNvPr id="13" name="Text 10"/>
          <p:cNvSpPr/>
          <p:nvPr/>
        </p:nvSpPr>
        <p:spPr>
          <a:xfrm>
            <a:off x="3502025" y="22574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D9691E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78" dirty="0"/>
          </a:p>
        </p:txBody>
      </p:sp>
      <p:sp>
        <p:nvSpPr>
          <p:cNvPr id="14" name="Text 11"/>
          <p:cNvSpPr/>
          <p:nvPr/>
        </p:nvSpPr>
        <p:spPr>
          <a:xfrm>
            <a:off x="35020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B8C0CC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78" dirty="0"/>
          </a:p>
        </p:txBody>
      </p:sp>
      <p:sp>
        <p:nvSpPr>
          <p:cNvPr id="15" name="Text 12"/>
          <p:cNvSpPr/>
          <p:nvPr/>
        </p:nvSpPr>
        <p:spPr>
          <a:xfrm>
            <a:off x="3502025" y="49244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B8C0CC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78" dirty="0"/>
          </a:p>
        </p:txBody>
      </p:sp>
      <p:sp>
        <p:nvSpPr>
          <p:cNvPr id="16" name="Text 13"/>
          <p:cNvSpPr/>
          <p:nvPr/>
        </p:nvSpPr>
        <p:spPr>
          <a:xfrm>
            <a:off x="4454525" y="359092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D9691E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78" dirty="0"/>
          </a:p>
        </p:txBody>
      </p:sp>
      <p:sp>
        <p:nvSpPr>
          <p:cNvPr id="17" name="Text 14"/>
          <p:cNvSpPr/>
          <p:nvPr/>
        </p:nvSpPr>
        <p:spPr>
          <a:xfrm>
            <a:off x="5407025" y="29241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B8C0CC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78" dirty="0"/>
          </a:p>
        </p:txBody>
      </p:sp>
      <p:sp>
        <p:nvSpPr>
          <p:cNvPr id="18" name="Text 15"/>
          <p:cNvSpPr/>
          <p:nvPr/>
        </p:nvSpPr>
        <p:spPr>
          <a:xfrm>
            <a:off x="5407025" y="4257675"/>
            <a:ext cx="336550" cy="336550"/>
          </a:xfrm>
          <a:custGeom>
            <a:avLst/>
            <a:gdLst/>
            <a:ahLst/>
            <a:cxnLst/>
            <a:rect l="l" t="t" r="r" b="b"/>
            <a:pathLst>
              <a:path w="336550" h="336550">
                <a:moveTo>
                  <a:pt x="168275" y="0"/>
                </a:moveTo>
                <a:lnTo>
                  <a:pt x="168275" y="0"/>
                </a:lnTo>
                <a:arcTo hR="168275" wR="168275" stAng="16200000" swAng="5400000"/>
                <a:lnTo>
                  <a:pt x="336550" y="168275"/>
                </a:lnTo>
                <a:arcTo hR="168275" wR="168275" stAng="0" swAng="5400000"/>
                <a:lnTo>
                  <a:pt x="168275" y="336550"/>
                </a:lnTo>
                <a:arcTo hR="168275" wR="168275" stAng="5400000" swAng="5400000"/>
                <a:lnTo>
                  <a:pt x="0" y="168275"/>
                </a:lnTo>
                <a:arcTo hR="168275" wR="168275" stAng="10800000" swAng="5400000"/>
                <a:close/>
              </a:path>
            </a:pathLst>
          </a:custGeom>
          <a:solidFill>
            <a:srgbClr val="EEF1F4"/>
          </a:solidFill>
          <a:ln w="19050">
            <a:solidFill>
              <a:srgbClr val="D9691E"/>
            </a:solidFill>
            <a:prstDash val="solid"/>
          </a:ln>
        </p:spPr>
        <p:txBody>
          <a:bodyPr wrap="square" lIns="0" tIns="7408" rIns="0" bIns="0" rtlCol="0" anchor="t">
            <a:normAutofit/>
          </a:bodyPr>
          <a:lstStyle/>
          <a:p>
            <a:pPr algn="ctr" indent="0" marL="0">
              <a:lnSpc>
                <a:spcPts val="2555"/>
              </a:lnSpc>
              <a:buNone/>
            </a:pPr>
            <a:r>
              <a:rPr lang="en-US" sz="1278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78" dirty="0"/>
          </a:p>
        </p:txBody>
      </p:sp>
      <p:sp>
        <p:nvSpPr>
          <p:cNvPr id="19" name="Text 16"/>
          <p:cNvSpPr/>
          <p:nvPr/>
        </p:nvSpPr>
        <p:spPr>
          <a:xfrm>
            <a:off x="7620000" y="1841500"/>
            <a:ext cx="38719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weight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0" y="2227529"/>
            <a:ext cx="387197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B453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6000" dirty="0"/>
          </a:p>
        </p:txBody>
      </p:sp>
      <p:sp>
        <p:nvSpPr>
          <p:cNvPr id="21" name="Text 18"/>
          <p:cNvSpPr/>
          <p:nvPr/>
        </p:nvSpPr>
        <p:spPr>
          <a:xfrm>
            <a:off x="7620000" y="3167329"/>
            <a:ext cx="387197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Thick edges in the tree: A–C, C–B, B–D, D–E, E–F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0" y="3837781"/>
            <a:ext cx="387197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Dashed edges discarded: A–B, C–D, C–E, D–F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0" y="4508236"/>
            <a:ext cx="387197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edges = V − 1, and no cycles.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complexity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84009"/>
          <a:ext cx="10553700" cy="1757363"/>
        </p:xfrm>
        <a:graphic>
          <a:graphicData uri="http://schemas.openxmlformats.org/drawingml/2006/table">
            <a:tbl>
              <a:tblPr/>
              <a:tblGrid>
                <a:gridCol w="4432554"/>
                <a:gridCol w="2955036"/>
                <a:gridCol w="316611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Implementation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Time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Best for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Adjacency matrix, linear scan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O(V²)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Dense graphs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Adjacency list, binary heap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O(E log V)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Sparse graphs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Adjacency list, Fibonacci heap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O(E + V log V)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Very large graphs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796971"/>
            <a:ext cx="10566400" cy="816570"/>
          </a:xfrm>
          <a:prstGeom prst="roundRect">
            <a:avLst>
              <a:gd name="adj" fmla="val 12442"/>
            </a:avLst>
          </a:prstGeom>
          <a:solidFill>
            <a:srgbClr val="14213D"/>
          </a:solidFill>
          <a:ln/>
        </p:spPr>
        <p:txBody>
          <a:bodyPr wrap="square" lIns="275042" tIns="224242" rIns="0" bIns="198842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Space: O(V + E) with an adjacency list, O(V²) with a matrix.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Pseudocode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20509"/>
            <a:ext cx="6731000" cy="3169444"/>
          </a:xfrm>
          <a:prstGeom prst="roundRect">
            <a:avLst>
              <a:gd name="adj" fmla="val 3206"/>
            </a:avLst>
          </a:prstGeom>
          <a:solidFill>
            <a:srgbClr val="0C173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745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PRIM(G, w, s):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6800" y="21920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5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each</a:t>
            </a: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 in V: key[v] ← ∞, parent[v] ← NIL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5095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key[s] ← 0;  Q ← 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8270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5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Q is not empty: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1445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 ← EXTRACT-MIN(Q)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34620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each</a:t>
            </a: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 adjacent to u: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6800" y="37795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5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v in Q and w(u, v) &lt; key[v]: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6800" y="4097009"/>
            <a:ext cx="640969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parent[v] ← u;  key[v] ← w(u, v)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48600" y="1620509"/>
            <a:ext cx="363651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99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key[v]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48600" y="2006538"/>
            <a:ext cx="363651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Cheapest edge weight linking v to the tree.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48600" y="2727790"/>
            <a:ext cx="363651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99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parent[v]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48600" y="3113819"/>
            <a:ext cx="363651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tree vertex that edge comes from.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48600" y="3835071"/>
            <a:ext cx="363651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299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48600" y="4221100"/>
            <a:ext cx="3636518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Min-priority queue of vertices outside the tree.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2010" y="1671309"/>
            <a:ext cx="1084656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4790" indent="-2247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E8ED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Prim’s algorithm grows one tree, always adding the cheapest edge that leaves it.</a:t>
            </a:r>
            <a:endParaRPr lang="en-US" sz="2000" dirty="0"/>
          </a:p>
          <a:p>
            <a:pPr algn="l" marL="224790" indent="-2247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E8ED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cut property guarantees the result is a minimum spanning tree.</a:t>
            </a:r>
            <a:endParaRPr lang="en-US" sz="2000" dirty="0"/>
          </a:p>
          <a:p>
            <a:pPr algn="l" marL="224790" indent="-2247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E8ED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Time: O(V²) with a matrix, O(E log V) with a binary heap.</a:t>
            </a:r>
            <a:endParaRPr lang="en-US" sz="2000" dirty="0"/>
          </a:p>
          <a:p>
            <a:pPr algn="l" marL="224790" indent="-22479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E8ED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in network design, road and cable layout, and clustering.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6024897"/>
            <a:ext cx="2667000" cy="426707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  <p:txBody>
          <a:bodyPr wrap="square" lIns="106802" tIns="26411" rIns="106802" bIns="101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using Claude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’s Minimum Spanning Tree">
  <a:themeElements>
    <a:clrScheme name="Prim’s Minimum Spanning Tree">
      <a:dk1>
        <a:srgbClr val="14213D"/>
      </a:dk1>
      <a:lt1>
        <a:srgbClr val="FBFBF8"/>
      </a:lt1>
      <a:dk2>
        <a:srgbClr val="4E586C"/>
      </a:dk2>
      <a:lt2>
        <a:srgbClr val="E4E5E5"/>
      </a:lt2>
      <a:accent1>
        <a:srgbClr val="F2994A"/>
      </a:accent1>
      <a:accent2>
        <a:srgbClr val="B4530F"/>
      </a:accent2>
      <a:accent3>
        <a:srgbClr val="9FB0C8"/>
      </a:accent3>
      <a:accent4>
        <a:srgbClr val="1F7A8C"/>
      </a:accent4>
      <a:accent5>
        <a:srgbClr val="4A5568"/>
      </a:accent5>
      <a:accent6>
        <a:srgbClr val="6A7179"/>
      </a:accent6>
      <a:hlink>
        <a:srgbClr val="0563C1"/>
      </a:hlink>
      <a:folHlink>
        <a:srgbClr val="954F72"/>
      </a:folHlink>
    </a:clrScheme>
    <a:fontScheme name="Prim’s Minimum Spanning Tree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Prim’s Minimum Spanning Tree</dc:title>
  <dc:subject/>
  <dc:creator/>
  <cp:lastModifiedBy/>
  <cp:revision>1</cp:revision>
  <dcterms:created xsi:type="dcterms:W3CDTF">2026-10-18T06:29:02Z</dcterms:created>
  <dcterms:modified xsi:type="dcterms:W3CDTF">2026-10-18T06:29:02Z</dcterms:modified>
</cp:coreProperties>
</file>